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38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formation Technology Background Vector Art, Icons, and Graphics for ...">
            <a:extLst>
              <a:ext uri="{FF2B5EF4-FFF2-40B4-BE49-F238E27FC236}">
                <a16:creationId xmlns:a16="http://schemas.microsoft.com/office/drawing/2014/main" id="{8D6D939E-4326-E439-4742-BF9A5DEE0A4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alphaModFix amt="87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62" r="27271"/>
          <a:stretch>
            <a:fillRect/>
          </a:stretch>
        </p:blipFill>
        <p:spPr bwMode="auto">
          <a:xfrm>
            <a:off x="0" y="0"/>
            <a:ext cx="9074989" cy="672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E88FC9-3A58-6116-583B-89CB7E278C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EEO-Aware </a:t>
            </a:r>
            <a:r>
              <a:rPr lang="en-US" dirty="0" err="1"/>
              <a:t>Supervison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B1389A-BFC1-099C-C518-E9EFB3393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Trust Centers, Centers Move</a:t>
            </a:r>
          </a:p>
        </p:txBody>
      </p:sp>
    </p:spTree>
    <p:extLst>
      <p:ext uri="{BB962C8B-B14F-4D97-AF65-F5344CB8AC3E}">
        <p14:creationId xmlns:p14="http://schemas.microsoft.com/office/powerpoint/2010/main" val="78929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 Manager Tool for OIT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EEO issues develop.</a:t>
            </a:r>
          </a:p>
          <a:p>
            <a:r>
              <a:rPr lang="en-US" dirty="0"/>
              <a:t>Catching early signs</a:t>
            </a:r>
          </a:p>
          <a:p>
            <a:r>
              <a:rPr lang="en-US" dirty="0"/>
              <a:t>Simple engagement model</a:t>
            </a:r>
          </a:p>
          <a:p>
            <a:r>
              <a:rPr lang="en-US" dirty="0"/>
              <a:t>Avoiding reprisals </a:t>
            </a:r>
          </a:p>
          <a:p>
            <a:r>
              <a:rPr lang="en-US" dirty="0"/>
              <a:t>Introducing a tool</a:t>
            </a:r>
          </a:p>
          <a:p>
            <a:r>
              <a:rPr lang="en-US" dirty="0"/>
              <a:t>Scenarios to 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Claims Begin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Confused expectations</a:t>
            </a:r>
          </a:p>
          <a:p>
            <a:r>
              <a:rPr lang="en-US" dirty="0"/>
              <a:t>Inconsistent requirements</a:t>
            </a:r>
          </a:p>
          <a:p>
            <a:r>
              <a:rPr lang="en-US" dirty="0"/>
              <a:t>Silently accepting cognitive dissonance</a:t>
            </a:r>
          </a:p>
          <a:p>
            <a:r>
              <a:rPr lang="en-US" dirty="0"/>
              <a:t>Mishandled procedures</a:t>
            </a:r>
          </a:p>
          <a:p>
            <a:r>
              <a:rPr lang="en-US" dirty="0"/>
              <a:t>Sensitivity to micro-actions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Supervisors See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changes appear as changes in movement</a:t>
            </a:r>
          </a:p>
          <a:p>
            <a:r>
              <a:rPr lang="en-US" dirty="0"/>
              <a:t>Rising frustration, withdrawal</a:t>
            </a:r>
          </a:p>
          <a:p>
            <a:r>
              <a:rPr lang="en-US" dirty="0"/>
              <a:t>“I’m being singled out.”</a:t>
            </a:r>
          </a:p>
          <a:p>
            <a:r>
              <a:rPr lang="en-US" dirty="0"/>
              <a:t>“My work is affecting my health.”</a:t>
            </a:r>
          </a:p>
          <a:p>
            <a:r>
              <a:rPr lang="en-US" dirty="0"/>
              <a:t>“Others are allowed to do . . .”</a:t>
            </a:r>
          </a:p>
          <a:p>
            <a:r>
              <a:rPr lang="en-US" dirty="0"/>
              <a:t>“I’ll just go to the Union/HR”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clean questions</a:t>
            </a:r>
          </a:p>
          <a:p>
            <a:r>
              <a:rPr lang="en-US" dirty="0"/>
              <a:t>Clarify answers cleanly</a:t>
            </a:r>
          </a:p>
          <a:p>
            <a:r>
              <a:rPr lang="en-US" dirty="0"/>
              <a:t>Reflect their experience as it appears to you</a:t>
            </a:r>
          </a:p>
          <a:p>
            <a:r>
              <a:rPr lang="en-US" dirty="0"/>
              <a:t>Explicitly acknowledge the employees concern</a:t>
            </a:r>
          </a:p>
          <a:p>
            <a:r>
              <a:rPr lang="en-US" dirty="0"/>
              <a:t>Articulate the fear or concern underneath</a:t>
            </a:r>
          </a:p>
          <a:p>
            <a:r>
              <a:rPr lang="en-US" dirty="0"/>
              <a:t>Guide to </a:t>
            </a:r>
            <a:r>
              <a:rPr lang="en-US" i="1" dirty="0"/>
              <a:t>examining</a:t>
            </a:r>
            <a:r>
              <a:rPr lang="en-US" dirty="0"/>
              <a:t> solutions</a:t>
            </a:r>
          </a:p>
          <a:p>
            <a:r>
              <a:rPr lang="en-US" dirty="0"/>
              <a:t>Clean closing &gt; doors left open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Telework: Emerging 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Telework may reflect problematic geometry</a:t>
            </a:r>
          </a:p>
          <a:p>
            <a:r>
              <a:rPr lang="en-US" dirty="0"/>
              <a:t>Employees see denial = discrimination</a:t>
            </a:r>
          </a:p>
          <a:p>
            <a:r>
              <a:rPr lang="en-US" dirty="0"/>
              <a:t>Supervisors see request = avoidance</a:t>
            </a:r>
          </a:p>
          <a:p>
            <a:r>
              <a:rPr lang="en-US" dirty="0"/>
              <a:t>Risk lies in different language-frames.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&gt;&gt; Clarify the purpose of the request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VA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Harassment Prevention Program (HPP)</a:t>
            </a:r>
          </a:p>
          <a:p>
            <a:pPr lvl="1"/>
            <a:r>
              <a:t>EEO Discrimination Complaints</a:t>
            </a:r>
          </a:p>
          <a:p>
            <a:pPr lvl="1"/>
            <a:r>
              <a:t>Alternative Dispute Resolution (ADR)</a:t>
            </a:r>
          </a:p>
          <a:p>
            <a:pPr lvl="1"/>
            <a:r>
              <a:t>Labor Relations (LR)</a:t>
            </a:r>
          </a:p>
          <a:p>
            <a:pPr lvl="1"/>
            <a:r>
              <a:t>Administrative Grievances</a:t>
            </a:r>
          </a:p>
          <a:p>
            <a:pPr lvl="1"/>
            <a:r>
              <a:t>Conduct / Performance (HR)</a:t>
            </a:r>
          </a:p>
          <a:p>
            <a:pPr lvl="1"/>
            <a:r>
              <a:t>Threat Assessment / Workplace Safety</a:t>
            </a:r>
          </a:p>
          <a:p>
            <a:pPr lvl="1"/>
            <a:r>
              <a:t>Whistleblower / OAWP</a:t>
            </a:r>
          </a:p>
          <a:p>
            <a:pPr lvl="1"/>
            <a:r>
              <a:t>Records &amp; Information Management (RIM)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Performance: Exposure Risk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 clear performance expectations</a:t>
            </a:r>
          </a:p>
          <a:p>
            <a:r>
              <a:rPr lang="en-US" dirty="0"/>
              <a:t>No contrast and comparing</a:t>
            </a:r>
          </a:p>
          <a:p>
            <a:r>
              <a:rPr lang="en-US" dirty="0"/>
              <a:t>Make counseling a nonnegative exchange</a:t>
            </a:r>
          </a:p>
          <a:p>
            <a:r>
              <a:rPr lang="en-US" dirty="0"/>
              <a:t>Link corrections to specific acts, standards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Discuss behaviors; strip all value/judgment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RA: Quiet Triggers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Employees drop soft clues before hard ones</a:t>
            </a:r>
          </a:p>
          <a:p>
            <a:r>
              <a:rPr lang="en-US" dirty="0"/>
              <a:t>Revelations about “my condition” not met</a:t>
            </a:r>
          </a:p>
          <a:p>
            <a:r>
              <a:rPr lang="en-US" dirty="0"/>
              <a:t>Unclear about what to ask or do</a:t>
            </a:r>
          </a:p>
          <a:p>
            <a:r>
              <a:rPr lang="en-US" dirty="0"/>
              <a:t>Establishing communications with HR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&gt;&gt; Ask: Do you want to explore RA options?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Reprisal: Most Common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Reprisal charge exists to flatten hierarchy</a:t>
            </a:r>
          </a:p>
          <a:p>
            <a:r>
              <a:rPr lang="en-US" dirty="0"/>
              <a:t>Protects the complaint process</a:t>
            </a:r>
          </a:p>
          <a:p>
            <a:r>
              <a:rPr lang="en-US" dirty="0"/>
              <a:t>Consider tone and timing in communications</a:t>
            </a:r>
          </a:p>
          <a:p>
            <a:r>
              <a:rPr lang="en-US" dirty="0"/>
              <a:t>Avoid signals – “this again”</a:t>
            </a:r>
          </a:p>
          <a:p>
            <a:r>
              <a:rPr lang="en-US" dirty="0"/>
              <a:t>Avoid “necessity” statements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Performance and Conduct are separate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 Managers Tool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problem geometry: what is this?</a:t>
            </a:r>
          </a:p>
          <a:p>
            <a:r>
              <a:rPr lang="en-US" dirty="0"/>
              <a:t>Considers logistics: schedules and alternatives</a:t>
            </a:r>
          </a:p>
          <a:p>
            <a:r>
              <a:rPr lang="en-US" dirty="0"/>
              <a:t>Strips narrative: negates the alternative facts</a:t>
            </a:r>
          </a:p>
          <a:p>
            <a:r>
              <a:rPr lang="en-US" dirty="0"/>
              <a:t>Emotion: removes human frustration signals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copy paste go + drop your scenario</a:t>
            </a:r>
          </a:p>
          <a:p>
            <a:pPr marL="0" indent="0">
              <a:buNone/>
            </a:pPr>
            <a:r>
              <a:rPr lang="en-US" dirty="0"/>
              <a:t>&gt;&gt; chat normally to refine the set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Management’s Control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Clarify the facts, and concerns clearly</a:t>
            </a:r>
          </a:p>
          <a:p>
            <a:r>
              <a:rPr lang="en-US" dirty="0"/>
              <a:t>Reflect employee experience back, validate</a:t>
            </a:r>
          </a:p>
          <a:p>
            <a:r>
              <a:rPr lang="en-US" dirty="0"/>
              <a:t>Stabilize tone, emotive intensity</a:t>
            </a:r>
          </a:p>
          <a:p>
            <a:r>
              <a:rPr lang="en-US" dirty="0"/>
              <a:t>Offer multiple action channels</a:t>
            </a:r>
          </a:p>
          <a:p>
            <a:r>
              <a:rPr lang="en-US" dirty="0"/>
              <a:t>Document facts, corroboration/observation</a:t>
            </a:r>
          </a:p>
          <a:p>
            <a:r>
              <a:rPr lang="en-US" dirty="0"/>
              <a:t>Remove all assumptions and judgment creep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F517-7B0B-CF82-1F5A-5FF15BD4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Scenarios: Loafing or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08A1D-A946-D9D4-E68B-5E5CECF8C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 with approved telework; misses check ins</a:t>
            </a:r>
          </a:p>
          <a:p>
            <a:pPr lvl="1"/>
            <a:r>
              <a:rPr lang="en-US" dirty="0"/>
              <a:t>What are the legitimate needs for business</a:t>
            </a:r>
          </a:p>
          <a:p>
            <a:pPr lvl="1"/>
            <a:r>
              <a:rPr lang="en-US" dirty="0"/>
              <a:t>What are the specific pressures</a:t>
            </a:r>
          </a:p>
          <a:p>
            <a:pPr lvl="1"/>
            <a:r>
              <a:rPr lang="en-US" dirty="0"/>
              <a:t>Separate the pressures and the needs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225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8085-853F-1284-067D-DEB07142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RA or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3388B-F781-AC18-9D2A-4143D131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 discloses conditions, asks for help</a:t>
            </a:r>
          </a:p>
          <a:p>
            <a:r>
              <a:rPr lang="en-US" dirty="0"/>
              <a:t>Recently missed deadlines and QC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&gt;&gt; Keep RA process neutral; apart from performance</a:t>
            </a:r>
          </a:p>
        </p:txBody>
      </p:sp>
    </p:spTree>
    <p:extLst>
      <p:ext uri="{BB962C8B-B14F-4D97-AF65-F5344CB8AC3E}">
        <p14:creationId xmlns:p14="http://schemas.microsoft.com/office/powerpoint/2010/main" val="831442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BA4A-BF1E-C5BA-EF0C-4EAF9C46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5AC5-C217-0D55-408E-F28C3C5A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C695E-40BF-5735-A887-788B1BB63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Workplace leadership requires emotional management</a:t>
            </a:r>
          </a:p>
          <a:p>
            <a:r>
              <a:rPr lang="en-US" dirty="0"/>
              <a:t>Workplace leadership requires rule compliance and enforcement.</a:t>
            </a:r>
          </a:p>
          <a:p>
            <a:r>
              <a:rPr lang="en-US" dirty="0"/>
              <a:t>Rules and Feelings often collide, managing this is the work.</a:t>
            </a:r>
          </a:p>
        </p:txBody>
      </p:sp>
    </p:spTree>
    <p:extLst>
      <p:ext uri="{BB962C8B-B14F-4D97-AF65-F5344CB8AC3E}">
        <p14:creationId xmlns:p14="http://schemas.microsoft.com/office/powerpoint/2010/main" val="72976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487</Words>
  <Application>Microsoft Office PowerPoint</Application>
  <PresentationFormat>On-screen Show (4:3)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EEO-Aware Supervison</vt:lpstr>
      <vt:lpstr>VA Manager Tool for OIT Leaders</vt:lpstr>
      <vt:lpstr>How Claims Begin</vt:lpstr>
      <vt:lpstr>Signals Supervisors See</vt:lpstr>
      <vt:lpstr>Engagement Model</vt:lpstr>
      <vt:lpstr>Telework: Emerging Problem</vt:lpstr>
      <vt:lpstr>3. VA Channels</vt:lpstr>
      <vt:lpstr>Performance: Exposure Risk</vt:lpstr>
      <vt:lpstr>RA: Quiet Triggers</vt:lpstr>
      <vt:lpstr>Reprisal: Most Common</vt:lpstr>
      <vt:lpstr>VA Managers Tool</vt:lpstr>
      <vt:lpstr>Management’s Control</vt:lpstr>
      <vt:lpstr>Scenarios: Loafing or Problem</vt:lpstr>
      <vt:lpstr>Scenario: RA or Performance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Piatt, Christian K. (OGC)</dc:creator>
  <cp:keywords/>
  <dc:description>generated using python-pptx</dc:description>
  <cp:lastModifiedBy>Piatt, Christian K. (OGC)</cp:lastModifiedBy>
  <cp:revision>3</cp:revision>
  <dcterms:created xsi:type="dcterms:W3CDTF">2013-01-27T09:14:16Z</dcterms:created>
  <dcterms:modified xsi:type="dcterms:W3CDTF">2026-03-19T14:52:23Z</dcterms:modified>
  <cp:category/>
</cp:coreProperties>
</file>